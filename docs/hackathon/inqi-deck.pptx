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inqi is the track brief's first example, built for real: customer inquiries to quotes, end to end, unattended.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168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76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594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CLOUD GLOBAL AI HACKATHON · AUTOPILOT AGENT TRACK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2194560"/>
            <a:ext cx="8686800" cy="20116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report.</a:t>
            </a:r>
            <a:endParaRPr lang="en-US" sz="5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on it.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58368" y="4343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inquiry → vendor discovery → real email outreach → negotiated replies → ranked quotes. Unattended.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8368" y="5623560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2A2A2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562356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39696" y="562356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23744" y="5623560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2A2A27"/>
          </a:solidFill>
          <a:ln/>
        </p:spPr>
      </p:sp>
      <p:sp>
        <p:nvSpPr>
          <p:cNvPr id="12" name="Text 10"/>
          <p:cNvSpPr/>
          <p:nvPr/>
        </p:nvSpPr>
        <p:spPr>
          <a:xfrm>
            <a:off x="2523744" y="562356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05072" y="562356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89120" y="5623560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2A2A27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562356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70448" y="562356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54496" y="5623560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2A2A27"/>
          </a:solidFill>
          <a:ln/>
        </p:spPr>
      </p:sp>
      <p:sp>
        <p:nvSpPr>
          <p:cNvPr id="18" name="Text 16"/>
          <p:cNvSpPr/>
          <p:nvPr/>
        </p:nvSpPr>
        <p:spPr>
          <a:xfrm>
            <a:off x="6254496" y="562356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35824" y="562356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19872" y="5623560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168F5F"/>
          </a:solidFill>
          <a:ln/>
        </p:spPr>
      </p:sp>
      <p:sp>
        <p:nvSpPr>
          <p:cNvPr id="21" name="Text 19"/>
          <p:cNvSpPr/>
          <p:nvPr/>
        </p:nvSpPr>
        <p:spPr>
          <a:xfrm>
            <a:off x="8119872" y="562356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52560" y="658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inqi.monkeycode.io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sourcing loop, unattended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755648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60020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— web or plain email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98448" y="183794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your request to intake@inqi-postmark-reply.monkeycode.io. inqi acknowledges with a live link; strangers get a polite decline with a reason (credit-gated — nobody spends our tokens anonymously).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478024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57860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98448" y="242316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Pre-research + optional questionnaire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98448" y="266090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gates the request; if the agent judges it needs more information, it reaches out with a short questionnaire — otherwise it proceeds straight to research.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3300984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40156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98448" y="3246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discovery with specificity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298448" y="34838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forms queries and mines real provider pages, telling specific providers apart from aggregators and directories — search specifics inform the hunt but never fake target progress.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4123944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224528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98448" y="406908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under a persona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298448" y="430682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shortlisted businesses — region-matched per-report persona, DKIM-signed, per-thread reply routing back into the agent.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4946904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5047488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98448" y="489204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Multistage reply loop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298448" y="512978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flows customer prompt → enrichment → questionnaire → synthesis → negotiation. The agent never invents commitments, yet carries every conversation to a decision point.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40080" y="5769864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5870448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98448" y="571500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for other agents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1298448" y="595274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inqi is designed as an extension of other agents on real-world tasks: if your personal assistant has email access, that's enough to interact — request in, ranked report back, pay on delivery.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negotiated a real price with a real business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85216" y="1636776"/>
            <a:ext cx="5961888" cy="3897399"/>
          </a:xfrm>
          <a:prstGeom prst="roundRect">
            <a:avLst>
              <a:gd name="adj" fmla="val 1877"/>
            </a:avLst>
          </a:prstGeom>
          <a:solidFill>
            <a:srgbClr val="FFFFFF"/>
          </a:solidFill>
          <a:ln w="15875">
            <a:solidFill>
              <a:srgbClr val="E4E2DC"/>
            </a:solidFill>
            <a:prstDash val="solid"/>
          </a:ln>
        </p:spPr>
      </p:sp>
      <p:pic>
        <p:nvPicPr>
          <p:cNvPr id="5" name="Image 0" descr="slide3-thr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5852160" cy="37876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589039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view: Marlowe (inqi persona) reaches the vendor — the reply routes straight back into the loop.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828800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192938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62088" y="18288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Multi-turn, in character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562088" y="212140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Follow-ups handled across the thread; persona held; price confirmed.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903720" y="3246120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30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62088" y="32461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construction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562088" y="3538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gates on prompts and inbound replies; outreach pinned during beta so tests never spam real shops.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903720" y="4663440"/>
            <a:ext cx="457200" cy="457200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4764024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562088" y="4663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mode, honestly framed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562088" y="495604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judging, vendor replies are simulated — so judges don't trigger real emails. Production mode is the thread on the left.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VALUE · 25%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unit economics, not estimates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AF6E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3911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13969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$50–150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14400" y="30449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2–4 h of a procurement specialist's sourcing time costs, per task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1783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AF6EF"/>
          </a:solidFill>
          <a:ln/>
        </p:spPr>
      </p:sp>
      <p:sp>
        <p:nvSpPr>
          <p:cNvPr id="10" name="Shape 7"/>
          <p:cNvSpPr/>
          <p:nvPr/>
        </p:nvSpPr>
        <p:spPr>
          <a:xfrm>
            <a:off x="4754880" y="203911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13969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$0.50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4754880" y="30449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report, all-in — Qwen tokens + searches + emails, metered in-product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321040" y="1783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AF6EF"/>
          </a:solidFill>
          <a:ln/>
        </p:spPr>
      </p:sp>
      <p:sp>
        <p:nvSpPr>
          <p:cNvPr id="15" name="Shape 11"/>
          <p:cNvSpPr/>
          <p:nvPr/>
        </p:nvSpPr>
        <p:spPr>
          <a:xfrm>
            <a:off x="8595360" y="203911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944" y="213969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credits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8595360" y="30449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the customer when a run fails — pay on delivery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0080" y="4023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times cheaper than the labor it replaces — and it isn't modeled: </a:t>
            </a:r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call, search and email is usage-recorded with its price; the report's cost view shows how the total is built.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0080" y="4754880"/>
            <a:ext cx="10881360" cy="713232"/>
          </a:xfrm>
          <a:prstGeom prst="roundRect">
            <a:avLst>
              <a:gd name="adj" fmla="val 12821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914400" y="475488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report — fully metered, not estimated: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~1.06M Qwen tokens · ~290 AI calls · ~170 web searches · 30 evidence sources kept · 8 deep-research passes · 3 outreach emails — $0.50 all-in. Lighter consumer runs land well under that.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it: construction &amp; industrial procurement (materials, machinery, plant hire) · SMB purchasing · competitor analytics · concierge services · marketplaces onboarding supply. Two intake channels businesses already use: the web — and their own inbox.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AI CREATIVITY · 30%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use of Qwen Cloud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47088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785" y="1939625"/>
            <a:ext cx="235549" cy="2355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922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qwen3.6-plus, tier system wired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417320" y="202996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runs breadth, depth, reply loop and synthesis today — and each phase resolves its model from config, so stronger or cheaper Qwen models slot into any phase with a flag flip. Depth-grade output in one pass keeps a heavy industrial report around half a dollar.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55080" y="164592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6248" y="1847088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785" y="193962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17922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Multistage reply loop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132320" y="202996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vendor's email (answer? counter-question? risk?), then respond — never inventing commitments, yet carrying the conversation to a decision point.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328416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1248" y="3529584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785" y="3622121"/>
            <a:ext cx="235549" cy="23554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474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questionnaire, LLM-gated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417320" y="3712464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judges whether clarification is needed; if so it reaches out with a short questionnaire — otherwise it proceeds. Unattended runs resolve with "decide for me" semantics.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355080" y="3328416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56248" y="3529584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785" y="3622121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3474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classification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132320" y="3712464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page vs aggregator, judged per hit — search specifics inform the hunt but can never fake target progress. Proven out via live A/B runs.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40080" y="5010912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41248" y="5212080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85" y="5304617"/>
            <a:ext cx="235549" cy="23554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515721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workflows (genes)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417320" y="53949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Tunables ride each report as versioned "genes" — e.g. v7 raises breadthCap 8→10 and adds an outreach wave. Cassette-scored, then auto-approved if it beats the incumbent (next slide).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355080" y="5010912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556248" y="5212080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8785" y="5304617"/>
            <a:ext cx="235549" cy="23554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32320" y="515721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Per-report personas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7132320" y="53949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Rotterdam excavator hire is carried end-to-end by a Dutch-region voice; a Lisbon photographer search by "Mariana V." Pinned 1:1 — the fleet never reads as one bot.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· THE SELF-UPDATE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updates itself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56816" cy="1371600"/>
          </a:xfrm>
          <a:prstGeom prst="roundRect">
            <a:avLst>
              <a:gd name="adj" fmla="val 6667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" y="2267712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execute on the active workflow version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9464" y="2313432"/>
            <a:ext cx="329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71216" y="1828800"/>
            <a:ext cx="1956816" cy="1371600"/>
          </a:xfrm>
          <a:prstGeom prst="roundRect">
            <a:avLst>
              <a:gd name="adj" fmla="val 6667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35808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35808" y="2267712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ledger + outcome scoring, per report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00600" y="2313432"/>
            <a:ext cx="329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102352" y="1828800"/>
            <a:ext cx="1956816" cy="1371600"/>
          </a:xfrm>
          <a:prstGeom prst="roundRect">
            <a:avLst>
              <a:gd name="adj" fmla="val 6667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66944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66944" y="2267712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"genes": discovery caps, wave plans, models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031736" y="2313432"/>
            <a:ext cx="329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33488" y="1828800"/>
            <a:ext cx="1956816" cy="1371600"/>
          </a:xfrm>
          <a:prstGeom prst="roundRect">
            <a:avLst>
              <a:gd name="adj" fmla="val 6667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0" y="2267712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cassettes score it against the incumbent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62872" y="2313432"/>
            <a:ext cx="329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564624" y="1828800"/>
            <a:ext cx="1956816" cy="1371600"/>
          </a:xfrm>
          <a:prstGeom prst="roundRect">
            <a:avLst>
              <a:gd name="adj" fmla="val 6667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29216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29216" y="2267712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graph, versioned, live — no deploy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6118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EAF6EF"/>
          </a:solidFill>
          <a:ln w="19050">
            <a:solidFill>
              <a:srgbClr val="168F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72160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⟲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508760" y="361188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— designed in: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version that beats the incumbent on rehearsal scores publishes itself — the loop closes without a human, and the next report runs on the improved workflow.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543032" y="3200400"/>
            <a:ext cx="0" cy="411480"/>
          </a:xfrm>
          <a:prstGeom prst="line">
            <a:avLst/>
          </a:prstGeom>
          <a:noFill/>
          <a:ln w="28575">
            <a:solidFill>
              <a:srgbClr val="0F6F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618488" y="3200400"/>
            <a:ext cx="0" cy="411480"/>
          </a:xfrm>
          <a:prstGeom prst="line">
            <a:avLst/>
          </a:prstGeom>
          <a:noFill/>
          <a:ln w="28575">
            <a:solidFill>
              <a:srgbClr val="0F6F49"/>
            </a:solidFill>
            <a:prstDash val="solid"/>
            <a:headEnd type="triangle"/>
          </a:ln>
        </p:spPr>
      </p:sp>
      <p:sp>
        <p:nvSpPr>
          <p:cNvPr id="28" name="Text 26"/>
          <p:cNvSpPr/>
          <p:nvPr/>
        </p:nvSpPr>
        <p:spPr>
          <a:xfrm>
            <a:off x="640080" y="4800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exists today — versioned graphs, tunable genes, cassette rehearsal, the publish gate. The workflow isn't code someone edits: it's a genome the system iterates.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 · 30%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over toy demos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720169"/>
            <a:ext cx="235549" cy="2355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3584" y="16002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DB-versioned state machines — built for dynamic updating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43584" y="1819656"/>
            <a:ext cx="7452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data, not code: new graph versions publish live, no redeploy — proposed by operators or, with auto-approve, by the system itself. Replayable and recoverable.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2414016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506553"/>
            <a:ext cx="235549" cy="23554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43584" y="238658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on Alibaba Cloud, Qwen everywhere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43584" y="2606040"/>
            <a:ext cx="7452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ECS instance runs the whole product — Caddy TLS, React SPA, NestJS API, Postgres, pg-boss, SearXNG/Serper — with Qwen Cloud (DashScope) for every model call and Postmark for mail.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3200400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292937"/>
            <a:ext cx="235549" cy="2355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43584" y="31729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Crash-safe autonomy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43584" y="3392424"/>
            <a:ext cx="7452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pg-boss queue, leases + reaper recovery for stuck runs, optimistic transitions, idempotent settlement, outbox events → realtime UI.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40080" y="3986784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4079321"/>
            <a:ext cx="235549" cy="23554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43584" y="39593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handled like money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43584" y="4178808"/>
            <a:ext cx="7452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credit ledger with balance == Σ(ledger) invariant. Pay-on-delivery, audited grants, concurrency-safe request approve/reject.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617" y="4865705"/>
            <a:ext cx="235549" cy="235549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43584" y="47457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Deliverability engineering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1243584" y="4965192"/>
            <a:ext cx="7452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DKIM-signed sender identities (system vs persona outreach) · RFC threading headers · per-thread reply routing into the webhook · bounce + suppression handling · decline cool-downs. Replies land in the agent, not a mailbox.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40080" y="5559552"/>
            <a:ext cx="420624" cy="420624"/>
          </a:xfrm>
          <a:prstGeom prst="ellipse">
            <a:avLst/>
          </a:prstGeom>
          <a:solidFill>
            <a:srgbClr val="EAF6E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617" y="5652089"/>
            <a:ext cx="235549" cy="235549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43584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with brakes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1243584" y="5751576"/>
            <a:ext cx="7452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gates score the prompt, questionnaire free-text and every inbound reply · credit-gated intake with reasoned declines · plus-alias signups blocked (grant farming) · suspension enforced mid-flight.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8869680" y="16916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EAF6EF"/>
          </a:solidFill>
          <a:ln/>
        </p:spPr>
      </p:sp>
      <p:sp>
        <p:nvSpPr>
          <p:cNvPr id="29" name="Text 21"/>
          <p:cNvSpPr/>
          <p:nvPr/>
        </p:nvSpPr>
        <p:spPr>
          <a:xfrm>
            <a:off x="9052560" y="18562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550+</a:t>
            </a:r>
            <a:endParaRPr lang="en-US" sz="2600" dirty="0"/>
          </a:p>
        </p:txBody>
      </p:sp>
      <p:sp>
        <p:nvSpPr>
          <p:cNvPr id="30" name="Text 22"/>
          <p:cNvSpPr/>
          <p:nvPr/>
        </p:nvSpPr>
        <p:spPr>
          <a:xfrm>
            <a:off x="9052560" y="23500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tests, incl. regressions written from live failures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869680" y="310896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EAF6EF"/>
          </a:solidFill>
          <a:ln/>
        </p:spPr>
      </p:sp>
      <p:sp>
        <p:nvSpPr>
          <p:cNvPr id="32" name="Text 24"/>
          <p:cNvSpPr/>
          <p:nvPr/>
        </p:nvSpPr>
        <p:spPr>
          <a:xfrm>
            <a:off x="9052560" y="3273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33" name="Text 25"/>
          <p:cNvSpPr/>
          <p:nvPr/>
        </p:nvSpPr>
        <p:spPr>
          <a:xfrm>
            <a:off x="9052560" y="37673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workflow graphs driving the pipeline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8869680" y="452628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EAF6EF"/>
          </a:solidFill>
          <a:ln/>
        </p:spPr>
      </p:sp>
      <p:sp>
        <p:nvSpPr>
          <p:cNvPr id="35" name="Text 27"/>
          <p:cNvSpPr/>
          <p:nvPr/>
        </p:nvSpPr>
        <p:spPr>
          <a:xfrm>
            <a:off x="9052560" y="46908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ECS</a:t>
            </a:r>
            <a:endParaRPr lang="en-US" sz="2600" dirty="0"/>
          </a:p>
        </p:txBody>
      </p:sp>
      <p:sp>
        <p:nvSpPr>
          <p:cNvPr id="36" name="Text 28"/>
          <p:cNvSpPr/>
          <p:nvPr/>
        </p:nvSpPr>
        <p:spPr>
          <a:xfrm>
            <a:off x="9052560" y="51846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entire product — measured, meterable, portable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OPERABILITY &amp; TRANSPARENCY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you can operate — and audit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3794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07568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report's pipeline in realtime; drill into inquiries, threads, dossiers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53128" y="1691640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81728" y="183794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controls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81728" y="207568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· resume · cancel any report mid-flight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66176" y="1691640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94776" y="183794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transparency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94776" y="207568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call, search and email usage-recorded with its price — the cost view shows how each total is built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7530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requests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81304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ask; operators approve (editable amount) or reject; approval emails the customer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53128" y="3429000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1728" y="357530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versions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681728" y="381304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as data: inspect any version, diff against active, publish live — diagrams render sub-workflow hand-offs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66176" y="3429000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94776" y="357530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audit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4776" y="381304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directory, suspension, and a full audit trail of operator actions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fought back — and what it taught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440680" cy="2286000"/>
          </a:xfrm>
          <a:prstGeom prst="roundRect">
            <a:avLst>
              <a:gd name="adj" fmla="val 4800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084832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an autopilot is a moving target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395728"/>
            <a:ext cx="49286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model or a parameter and quality — or cost — regresses silently. Golden cassettes replay recorded real runs; rehearsal drivers score each candidate config before publish. Regression testing that embraces LLM non-determinism.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55080" y="1920240"/>
            <a:ext cx="5440680" cy="2286000"/>
          </a:xfrm>
          <a:prstGeom prst="roundRect">
            <a:avLst>
              <a:gd name="adj" fmla="val 4800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1112" y="2084832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between models, safely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11112" y="2395728"/>
            <a:ext cx="49286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swap shifts tone, JSON discipline and cost. We migrate by rehearsal: record real runs as golden cassettes, replay them against the candidate Qwen model, compare quality and spend — then flip a config flag. No big-bang migrations.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4663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production agent work is 20% prompting, 80% systems engineering — plus a harness that respects non-determinism.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76072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last-mile inquiries to full orchestration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AF6EF"/>
          </a:solidFill>
          <a:ln w="19050">
            <a:solidFill>
              <a:srgbClr val="168F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68F5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inquiries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68680" y="2798064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concrete request, owned end-to-end: discover real vendors, negotiate by email, deliver a ranked report with quoted prices.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today — this is the demo.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42232" y="34747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53128" y="173736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19659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C1C1A"/>
          </a:solidFill>
          <a:ln/>
        </p:spPr>
      </p:sp>
      <p:sp>
        <p:nvSpPr>
          <p:cNvPr id="12" name="Text 10"/>
          <p:cNvSpPr/>
          <p:nvPr/>
        </p:nvSpPr>
        <p:spPr>
          <a:xfrm>
            <a:off x="4681728" y="19659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81728" y="245059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orchestration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681728" y="2798064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goal decomposed into many inqi reports running in parallel, then synthesized into a single plan + budget.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= Venue + Photographer + Catering + Florist + Music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= Architect + Design + Materials + Machinery + Permits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34747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266176" y="173736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AF9F7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19659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C1C1A"/>
          </a:solidFill>
          <a:ln/>
        </p:spPr>
      </p:sp>
      <p:sp>
        <p:nvSpPr>
          <p:cNvPr id="18" name="Text 16"/>
          <p:cNvSpPr/>
          <p:nvPr/>
        </p:nvSpPr>
        <p:spPr>
          <a:xfrm>
            <a:off x="8494776" y="19659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94776" y="245059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research reports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494776" y="2798064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— discover, verify, negotiate, synthesize — pointed at open-ended topics: market scans, competitor watch, standing reports that refresh themselves.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is the beachhead; researched decisions are the product.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6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rides the machinery that already exists: self-updating versioned workflows, report genes, golden-cassette rehearsal, agent-to-agent email intake.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168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76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594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10058400" cy="914400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during judging.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28346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and the system grants 10 credits automatically — run your own report, watch the agents work, and read the cost ledger when it lands.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4032504"/>
            <a:ext cx="146304" cy="146304"/>
          </a:xfrm>
          <a:prstGeom prst="ellipse">
            <a:avLst/>
          </a:prstGeom>
          <a:solidFill>
            <a:srgbClr val="168F5F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977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inqi.monkeycode.io — Alibaba Cloud ECS, Qwen Cloud models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4718304"/>
            <a:ext cx="146304" cy="146304"/>
          </a:xfrm>
          <a:prstGeom prst="ellipse">
            <a:avLst/>
          </a:prstGeom>
          <a:solidFill>
            <a:srgbClr val="168F5F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github.com/andrew-vogulkin/inqi — 550+ tests, docs, workflow diagrams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5404104"/>
            <a:ext cx="146304" cy="146304"/>
          </a:xfrm>
          <a:prstGeom prst="ellipse">
            <a:avLst/>
          </a:prstGeom>
          <a:solidFill>
            <a:srgbClr val="168F5F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349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383280" y="5349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email → live pipeline → vendor thread → ranked report → cost view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report. AI agents on it.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2026-07-19T17:39:00Z</dcterms:created>
  <dcterms:modified xsi:type="dcterms:W3CDTF">2026-07-19T17:39:00Z</dcterms:modified>
</cp:coreProperties>
</file>