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inqi is the track brief's first example, built for real: customer inquiries to quotes, end to end, unattended.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68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76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594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AUTOPILOT AGENT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8686800" cy="20116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report.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on it.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58368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inquiry → vendor discovery → real email outreach → negotiated replies → ranked quotes. Unattended.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5623560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2A2A2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5623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39696" y="56235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23744" y="5623560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2A2A27"/>
          </a:solidFill>
          <a:ln/>
        </p:spPr>
      </p:sp>
      <p:sp>
        <p:nvSpPr>
          <p:cNvPr id="12" name="Text 10"/>
          <p:cNvSpPr/>
          <p:nvPr/>
        </p:nvSpPr>
        <p:spPr>
          <a:xfrm>
            <a:off x="2523744" y="5623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05072" y="56235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5623560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2A2A27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5623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70448" y="56235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5623560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2A2A27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5623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35824" y="56235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19872" y="5623560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168F5F"/>
          </a:solidFill>
          <a:ln/>
        </p:spPr>
      </p:sp>
      <p:sp>
        <p:nvSpPr>
          <p:cNvPr id="21" name="Text 19"/>
          <p:cNvSpPr/>
          <p:nvPr/>
        </p:nvSpPr>
        <p:spPr>
          <a:xfrm>
            <a:off x="8119872" y="5623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658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inqi.monkeycode.io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sourcing loop, unattended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55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002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— web or plain email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98448" y="183794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your request to intake@inqi-postmark-reply.monkeycode.io. inqi acknowledges with a live link; strangers get a polite decline with a reason (credit-gated — nobody spends our tokens anonymously).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478024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5786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231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Pre-research + optional questionnaire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98448" y="266090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 the request; if the agent judges it needs more information, it reaches out with a short questionnaire — otherwise it proceeds straight to research.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300984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40156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246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discovery with specificity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98448" y="34838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forms queries and mines real provider pages, telling specific providers apart from aggregators and directories — search specifics inform the hunt but never fake target progress.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123944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22452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0690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under a persona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98448" y="43068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shortlisted businesses — region-matched per-report persona, DKIM-signed, per-thread reply routing back into the agent.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946904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04748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48920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Multistage reply loop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98448" y="51297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flows customer prompt → enrichment → questionnaire → synthesis → negotiation. The agent never invents commitments, yet carries every conversation to a decision point.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40080" y="5769864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870448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98448" y="57150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for other agents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298448" y="595274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 is designed as an extension of other agents on real-world tasks: if your personal assistant has email access, that's enough to interact — request in, ranked report back, pay on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negotiated a real price with a real business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52160" cy="4480560"/>
          </a:xfrm>
          <a:prstGeom prst="roundRect">
            <a:avLst>
              <a:gd name="adj" fmla="val 2449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20240"/>
            <a:ext cx="5120640" cy="859536"/>
          </a:xfrm>
          <a:prstGeom prst="roundRect">
            <a:avLst>
              <a:gd name="adj" fmla="val 10638"/>
            </a:avLst>
          </a:prstGeom>
          <a:solidFill>
            <a:srgbClr val="EAF6E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99339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 (persona: Mariana)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16152" y="2212848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Looking for grooming for a golden retriever — do you have weekend availability, and what would a full groom cost?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2880360"/>
            <a:ext cx="512064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95351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Hundesalon (real business)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" y="3172968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we groom large breeds. Saturdays are possible. For a golden retriever a full groom is 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3840480"/>
            <a:ext cx="5120640" cy="859536"/>
          </a:xfrm>
          <a:prstGeom prst="roundRect">
            <a:avLst>
              <a:gd name="adj" fmla="val 10638"/>
            </a:avLst>
          </a:prstGeom>
          <a:solidFill>
            <a:srgbClr val="EAF6E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91363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16152" y="4133088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— could you confirm the price for a first visit, and how far in advance we should book?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4800600"/>
            <a:ext cx="512064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87375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Hundesalon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24712" y="5093208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visit is 20 EUR incl. wash &amp; cut. Booking ~2 weeks ahead is best.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4" y="1929384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62088" y="1828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Multi-turn, in character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62088" y="21214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handled across the thread; persona held; price confirmed.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03720" y="3246120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3346704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62088" y="3246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construction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562088" y="353872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 on prompts and inbound replies; outreach pinned during beta so tests never spam real shops.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903720" y="4663440"/>
            <a:ext cx="457200" cy="45720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476402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562088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mode, honestly framed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562088" y="49560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judging, vendor replies are simulated — so judges don't trigger real emails. Production mode is the thread on the left.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VALUE · 25%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unit economics, not estimates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391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396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$50–150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044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2–4 h of a procurement specialist's sourcing time costs, per task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0391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1396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$0.50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754880" y="3044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report, all-in — Qwen tokens + searches + emails, metered in-product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0" y="20391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1396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credits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595360" y="3044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the customer when a run fails — pay on delivery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0233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times cheaper than the labor it replaces — and it isn't modeled: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call, search and email is usage-recorded with its price; the report's cost view shows how the total is built.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40080" y="475488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475488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report — fully metered, not estimated: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~1.06M Qwen tokens · ~290 AI calls · ~170 web searches · 30 evidence sources kept · 8 deep-research passes · 3 outreach emails — $0.50 all-in. Lighter consumer runs land well under that.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it: construction &amp; industrial procurement (materials, machinery, plant hire) · SMB purchasing · competitor analytics · concierge services · marketplaces onboarding supply. Two intake channels businesses already use: the web — and their own inbox.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AI CREATIVITY · 30%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use of Qwen Cloud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193962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92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qwen3.6-plus, tier system wired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02996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runs breadth, depth, reply loop and synthesis today — and each phase resolves its model from config, so stronger or cheaper Qwen models slot into any phase with a flag flip. Depth-grade output in one pass keeps a heavy industrial report around half a dollar.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6248" y="1847088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785" y="193962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92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Multistage reply loop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02996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vendor's email (answer? counter-question? risk?), then respond — never inventing commitments, yet carrying the conversation to a decision point.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28416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529584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85" y="3622121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74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questionnaire, LLM-gated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7124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judges whether clarification is needed; if so it reaches out with a short questionnaire — otherwise it proceeds. Unattended runs resolve with "decide for me" semantics.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328416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56248" y="3529584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785" y="3622121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474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classification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7124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page vs aggregator, judged per hit — search specifics inform the hunt but can never fake target progress. Proven out via live A/B runs.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010912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5212080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85" y="5304617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157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workflows (genes)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3949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Tunables ride each report as versioned "genes" — e.g. v7 raises breadthCap 8→10 and adds an outreach wave. Cassette-scored, then auto-approved if it beats the incumbent (next slide).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5010912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56248" y="5212080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785" y="5304617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5157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Per-report personas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32320" y="53949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Rotterdam excavator hire is carried end-to-end by a Dutch-region voice; a Lisbon photographer search by "Mariana V." Pinned 1:1 — the fleet never reads as one bot.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THE SELF-UPDATE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updates itself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751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267712"/>
            <a:ext cx="1627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execute on the active workflow version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9464" y="2313432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71216" y="18288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9751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35808" y="2267712"/>
            <a:ext cx="1627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ledger + outcome scoring, per report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2313432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02352" y="18288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19751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66944" y="2267712"/>
            <a:ext cx="1627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"genes": discovery caps, wave plans,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31736" y="2313432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33488" y="18288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9751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267712"/>
            <a:ext cx="1627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cassettes score it against the incumbent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62872" y="2313432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64624" y="18288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19751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29216" y="2267712"/>
            <a:ext cx="1627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graph, versioned, live — no deploy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6EF"/>
          </a:solidFill>
          <a:ln w="19050">
            <a:solidFill>
              <a:srgbClr val="168F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08760" y="36118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— designed in: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version that beats the incumbent on rehearsal scores publishes itself — the loop closes without a human, and the next report runs on the improved workflow.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543032" y="3200400"/>
            <a:ext cx="0" cy="411480"/>
          </a:xfrm>
          <a:prstGeom prst="line">
            <a:avLst/>
          </a:prstGeom>
          <a:noFill/>
          <a:ln w="28575">
            <a:solidFill>
              <a:srgbClr val="0F6F4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618488" y="3200400"/>
            <a:ext cx="0" cy="411480"/>
          </a:xfrm>
          <a:prstGeom prst="line">
            <a:avLst/>
          </a:prstGeom>
          <a:noFill/>
          <a:ln w="28575">
            <a:solidFill>
              <a:srgbClr val="0F6F49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exists today — versioned graphs, tunable genes, cassette rehearsal, the publish gate. The workflow isn't code someone edits: it's a genome the system iterates.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· 30%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over toy demos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1720169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1600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DB-versioned state machines — built for dynamic updating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43584" y="1819656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data, not code: new graph versions publish live, no redeploy — proposed by operators or, with auto-approve, by the system itself. Replayable and recoverable.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414016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50655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3584" y="2386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Alibaba Cloud, Qwen everywhere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43584" y="2606040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ECS instance runs the whole product — Caddy TLS, React SPA, NestJS API, Postgres, pg-boss, SearXNG/Serper — with Qwen Cloud (DashScope) for every model call and Postmark for mail.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29293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3584" y="31729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autonomy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43584" y="3392424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pg-boss queue, leases + reaper recovery for stuck runs, optimistic transitions, idempotent settlement, outbox events → realtime UI.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4079321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43584" y="3959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handled like money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43584" y="4178808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credit ledger with balance == Σ(ledger) invariant. Pay-on-delivery, audited grants, concurrency-safe request approve/reject.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17" y="4865705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43584" y="4745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Deliverability engineering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43584" y="4965192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DKIM-signed sender identities (system vs persona outreach) · RFC threading headers · per-thread reply routing into the webhook · bounce + suppression handling · decline cool-downs. Replies land in the agent, not a mailbox.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5559552"/>
            <a:ext cx="420624" cy="420624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17" y="5652089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43584" y="5532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with brakes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243584" y="5751576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 score the prompt, questionnaire free-text and every inbound reply · credit-gated intake with reasoned declines · plus-alias signups blocked (grant farming) · suspension enforced mid-flight.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886968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AF6EF"/>
          </a:solidFill>
          <a:ln/>
        </p:spPr>
      </p:sp>
      <p:sp>
        <p:nvSpPr>
          <p:cNvPr id="29" name="Text 21"/>
          <p:cNvSpPr/>
          <p:nvPr/>
        </p:nvSpPr>
        <p:spPr>
          <a:xfrm>
            <a:off x="905256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550+</a:t>
            </a:r>
            <a:endParaRPr lang="en-US" sz="2600" dirty="0"/>
          </a:p>
        </p:txBody>
      </p:sp>
      <p:sp>
        <p:nvSpPr>
          <p:cNvPr id="30" name="Text 22"/>
          <p:cNvSpPr/>
          <p:nvPr/>
        </p:nvSpPr>
        <p:spPr>
          <a:xfrm>
            <a:off x="9052560" y="2350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tests, incl. regressions written from live failures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869680" y="310896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AF6EF"/>
          </a:solidFill>
          <a:ln/>
        </p:spPr>
      </p:sp>
      <p:sp>
        <p:nvSpPr>
          <p:cNvPr id="32" name="Text 24"/>
          <p:cNvSpPr/>
          <p:nvPr/>
        </p:nvSpPr>
        <p:spPr>
          <a:xfrm>
            <a:off x="9052560" y="32735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905256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workflow graphs driving the pipeline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869680" y="4526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AF6EF"/>
          </a:solidFill>
          <a:ln/>
        </p:spPr>
      </p:sp>
      <p:sp>
        <p:nvSpPr>
          <p:cNvPr id="35" name="Text 27"/>
          <p:cNvSpPr/>
          <p:nvPr/>
        </p:nvSpPr>
        <p:spPr>
          <a:xfrm>
            <a:off x="9052560" y="4690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ECS</a:t>
            </a:r>
            <a:endParaRPr lang="en-US" sz="2600" dirty="0"/>
          </a:p>
        </p:txBody>
      </p:sp>
      <p:sp>
        <p:nvSpPr>
          <p:cNvPr id="36" name="Text 28"/>
          <p:cNvSpPr/>
          <p:nvPr/>
        </p:nvSpPr>
        <p:spPr>
          <a:xfrm>
            <a:off x="9052560" y="5184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entire product — measured, meterable, portable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 &amp; TRANSPARENCY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you can operate — and audit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37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7568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report's pipeline in realtime; drill into inquiries, threads, dossiers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53128" y="169164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837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1728" y="207568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· resume · cancel any report mid-flight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66176" y="169164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837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transparency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94776" y="207568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call, search and email usage-recorded with its price — the cost view shows how each total is built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75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requests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8130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ask; operators approve (editable amount) or reject; approval emails the customer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53128" y="342900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575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versions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81728" y="38130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as data: inspect any version, diff against active, publish live — diagrams render sub-workflow hand-offs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66176" y="342900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4776" y="3575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audit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94776" y="38130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directory, suspension, and a full audit trail of operator actions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fought back — and what it taught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84832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an autopilot is a moving target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395728"/>
            <a:ext cx="4928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model or a parameter and quality — or cost — regresses silently. Golden cassettes replay recorded real runs; rehearsal drivers score each candidate config before publish. Regression testing that embraces LLM non-determinism.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2084832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between models, safely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1112" y="2395728"/>
            <a:ext cx="4928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swap shifts tone, JSON discipline and cost. We migrate by rehearsal: record real runs as golden cassettes, replay them against the candidate Qwen model, compare quality and spend — then flip a config flag. No big-bang migrations.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production agent work is 20% prompting, 80% systems engineering — plus a harness that respects non-determinism.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last-mile inquiries to full orchestration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AF6EF"/>
          </a:solidFill>
          <a:ln w="19050">
            <a:solidFill>
              <a:srgbClr val="168F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68F5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inquiries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2798064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request, owned end-to-end: discover real vendors, negotiate by email, deliver a ranked report with quoted prices.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today — this is the demo.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42232" y="3474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53128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19659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1C1A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19659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2450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orchestration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81728" y="2798064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goal decomposed into many inqi reports running in parallel, then synthesized into a single plan + budget.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= Venue + Photographer + Catering + Florist + Music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= Architect + Design + Materials + Machinery + Permits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3474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66176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AF9F7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94776" y="19659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1C1A"/>
          </a:solidFill>
          <a:ln/>
        </p:spPr>
      </p:sp>
      <p:sp>
        <p:nvSpPr>
          <p:cNvPr id="18" name="Text 16"/>
          <p:cNvSpPr/>
          <p:nvPr/>
        </p:nvSpPr>
        <p:spPr>
          <a:xfrm>
            <a:off x="8494776" y="19659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94776" y="2450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research reports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94776" y="2798064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— discover, verify, negotiate, synthesize — pointed at open-ended topics: market scans, competitor watch, standing reports that refresh themselves.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is the beachhead; researched decisions are the product.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rides the machinery that already exists: self-updating versioned workflows, report genes, golden-cassette rehearsal, agent-to-agent email intake.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68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76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594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during judging.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8346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the system grants 10 credits automatically — run your own report, watch the agents work, and read the cost ledger when it lands.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4032504"/>
            <a:ext cx="146304" cy="146304"/>
          </a:xfrm>
          <a:prstGeom prst="ellipse">
            <a:avLst/>
          </a:prstGeom>
          <a:solidFill>
            <a:srgbClr val="168F5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inqi.monkeycode.io — Alibaba Cloud ECS, Qwen Cloud models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718304"/>
            <a:ext cx="146304" cy="146304"/>
          </a:xfrm>
          <a:prstGeom prst="ellipse">
            <a:avLst/>
          </a:prstGeom>
          <a:solidFill>
            <a:srgbClr val="168F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github.com/andrew-vogulkin/inqi — 550+ tests, docs, workflow diagrams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5404104"/>
            <a:ext cx="146304" cy="146304"/>
          </a:xfrm>
          <a:prstGeom prst="ellipse">
            <a:avLst/>
          </a:prstGeom>
          <a:solidFill>
            <a:srgbClr val="168F5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5349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email → live pipeline → vendor thread → ranked report → cost view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report. AI agents on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2026-07-19T07:30:26Z</dcterms:created>
  <dcterms:modified xsi:type="dcterms:W3CDTF">2026-07-19T07:30:26Z</dcterms:modified>
</cp:coreProperties>
</file>